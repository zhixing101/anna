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手绘月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0" y="457200"/>
            <a:ext cx="3931920" cy="2926080"/>
          </a:xfrm>
          <a:prstGeom prst="roundRect">
            <a:avLst>
              <a:gd name="adj" fmla="val 4688"/>
            </a:avLst>
          </a:prstGeom>
          <a:solidFill>
            <a:srgbClr val="FFFFFF">
              <a:alpha val="9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0" y="548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1E3A8A"/>
                </a:solidFill>
              </a:rPr>
              <a:t>百首诗</a:t>
            </a:r>
            <a:endParaRPr lang="en-US" sz="4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3B82F6"/>
                </a:solidFill>
              </a:rPr>
              <a:t>小朋友的背诵小册</a:t>
            </a:r>
            <a:endParaRPr lang="en-US" sz="4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</a:rPr>
              <a:t>四部 · 每部 25 首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06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37"/>
                </a:solidFill>
              </a:rPr>
              <a:t>附件 · 蒋老师的编程课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C4899"/>
                </a:solidFill>
              </a:rPr>
              <a:t>每天一首,日积月累,量变到质变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四部分类:先看地图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天地 → 人间 → 家国 → 人生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338328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部分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编号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核心问题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情感走向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天地四时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1—25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我们如何感受自然与世界?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观物、惊叹、沉思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人间情长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26—50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我们如何爱、思念与告别?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倾慕、相守、离别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家国天下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51—75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个人如何面对历史与他人?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兴亡、悲悯、担当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人生天地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76—100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人如何面对时间、命运与死亡?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立志、失意、超越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794760"/>
            <a:ext cx="841248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3822192"/>
            <a:ext cx="79552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3B82F6"/>
                </a:solidFill>
              </a:rPr>
              <a:t>怎么分?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每部 25 首:上组 12 首 + 下组 12 首 + 1 首总括。《诗经》、汉乐府等作者难以确考的,按作品传统来源标注。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第一部 · 天地四时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天地四时 · 上组 · 万物初生,天地开阔(01—12)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2471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《桃夭》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《诗经》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《橘颂》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屈原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《江南》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汉乐府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《观沧海》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曹操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《饮酒·其五》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陶渊明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《敕勒歌》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北朝民歌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12471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《静夜思》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李白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655064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《咏柳》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贺知章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2185416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《春晓》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孟浩然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《鹿柴》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王维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《登鹳雀楼》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王之涣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663440" y="377647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《咏鹅》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骆宾王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65760" y="4370832"/>
            <a:ext cx="841248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398264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3B82F6"/>
                </a:solidFill>
              </a:rPr>
              <a:t>核心问题:我们如何感受自然与世界?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情感走向:观物、惊叹、沉思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第一部 · 天地四时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天地四时 · 下组 · 山水有情,四时有思(13—24)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2471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《绝句(两个黄鹂鸣翠柳)》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杜甫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《滁州西涧》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韦应物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《赋得古原草送别》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白居易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《江雪》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柳宗元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《秋词·其一》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刘禹锡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《山行》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杜牧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12471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《早春呈水部张十八员外》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韩愈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655064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《题西林壁》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苏轼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2185416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《游山西村》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陆游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《小池》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杨万里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《四时田园杂兴·其二十五》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范成大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663440" y="377647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《天净沙·秋思》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马致远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65760" y="4370832"/>
            <a:ext cx="841248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398264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3B82F6"/>
                </a:solidFill>
              </a:rPr>
              <a:t>总括 25 · 春江花月夜 · 张若虚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以春、江、花、月、夜五种意象,汇聚自然之美、宇宙之问、人生之思与离别之情。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4899"/>
                </a:solidFill>
              </a:rPr>
              <a:t>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第二部 · 人间情长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人间情长 · 上组 · 爱情与相思(26—37)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24712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《关雎》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《诗经·周南》·先秦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27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《蒹葭》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《诗经·秦风》·先秦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《上邪》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汉乐府·汉代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《白头吟》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传统归于卓文君·汉代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《七哀诗》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曹植·三国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《夜雨寄北》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李商隐·晚唐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124712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《离思五首·其四》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元稹·中唐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655064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《节妇吟·寄东平李司空师道》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张籍·中唐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2185416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《无题·相见时难别亦难》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李商隐·晚唐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《一剪梅·红藕香残玉簟秋》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李清照·北宋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《雨霖铃·寒蝉凄切》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柳永·北宋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663440" y="3776472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《鹊桥仙·纤云弄巧》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秦观·北宋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65760" y="4370832"/>
            <a:ext cx="841248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31750">
            <a:solidFill>
              <a:srgbClr val="EC489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398264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EC4899"/>
                </a:solidFill>
              </a:rPr>
              <a:t>核心问题:我们如何爱、思念与告别?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情感走向:倾慕、相守、离别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4899"/>
                </a:solidFill>
              </a:rPr>
              <a:t>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第二部 · 人间情长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人间情长 · 下组 · 亲情、友情与离别(38—49)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24712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《游子吟》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孟郊·中唐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《九月九日忆山东兄弟》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王维·盛唐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《送杜少府之任蜀州》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王勃·初唐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《送元二使安西》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王维·盛唐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《黄鹤楼送孟浩然之广陵》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李白·盛唐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《赠汪伦》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李白·盛唐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124712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《别董大》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高适·盛唐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655064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《闻王昌龄左迁龙标遥有此寄》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李白·盛唐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2185416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《江南逢李龟年》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杜甫·盛唐至中唐之交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《逢入京使》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岑参·盛唐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《月夜忆舍弟》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杜甫·唐代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663440" y="3776472"/>
            <a:ext cx="420624" cy="42062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49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《示儿》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陆游·南宋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65760" y="4370832"/>
            <a:ext cx="841248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31750">
            <a:solidFill>
              <a:srgbClr val="EC489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398264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EC4899"/>
                </a:solidFill>
              </a:rPr>
              <a:t>总括 50 · 长恨歌(节选) · 白居易 · 中唐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兼具爱情、权力、历史与生死之叹,是“人间情长”的总结。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6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第三部 · 家国天下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家国天下 · 上组 · 历史兴亡与山河之痛(51—62)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2471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《黍离》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《诗经·王风》·先秦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《国殇》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屈原·战国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《蒿里行》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曹操·东汉末年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《咏怀古迹五首·其三》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杜甫·唐代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《蜀相》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杜甫·唐代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《春望》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杜甫·唐代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12471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《金陵怀古》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刘禹锡·中唐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65506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《乌衣巷》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刘禹锡·中唐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2185416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《赤壁》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杜牧·晚唐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《泊秦淮》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杜牧·晚唐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《山坡羊·潼关怀古》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张养浩·元代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663440" y="377647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62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《临江仙·滚滚长江东逝水》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杨慎·明代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65760" y="4370832"/>
            <a:ext cx="841248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398264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59E0B"/>
                </a:solidFill>
              </a:rPr>
              <a:t>核心问题:个人如何面对历史与他人?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情感走向:兴亡、悲悯、担当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7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第三部 · 家国天下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家国天下 · 下组 · 百姓疾苦、政治理想与个人担当(63—74)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2471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《卖炭翁》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白居易·中唐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《茅屋为秋风所破歌》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杜甫·唐代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《观刈麦》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白居易·中唐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《悯农二首·其二》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李绅·中唐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《出塞》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王昌龄·盛唐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《凉州词》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王翰·盛唐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12471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《雁门太守行》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李贺·中唐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65506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《过零丁洋》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文天祥·南宋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2185416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《满江红·怒发冲冠》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传统归于岳飞·南宋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《十一月四日风雨大作·其二》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陆游·南宋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《己亥杂诗·其五》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龚自珍·清代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663440" y="377647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《狱中题壁》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谭嗣同·清末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65760" y="4370832"/>
            <a:ext cx="841248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398264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59E0B"/>
                </a:solidFill>
              </a:rPr>
              <a:t>总括 75 · 岳阳楼记(节选) · 范仲淹 · 北宋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8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第四部 · 人生天地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人生天地 · 上组 · 立志、求学与进退(76—87)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2471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《长歌行》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汉乐府·汉代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77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《龟虽寿》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曹操·东汉末年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《赠从弟·其二》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刘桢·建安时期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《读书有所见作》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萧抡谓·清代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《劝学》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颜真卿·唐代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《登飞来峰》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王安石·北宋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12471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《行路难·其一》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李白·唐代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655064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《望岳》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杜甫·唐代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2185416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《登幽州台歌》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陈子昂·唐代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《酬乐天扬州初逢席上见赠》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刘禹锡·唐代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《定风波·莫听穿林打叶声》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苏轼·北宋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663440" y="377647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《卜算子·黄州定慧院寓居作》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苏轼·北宋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65760" y="4370832"/>
            <a:ext cx="841248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398264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2C55E"/>
                </a:solidFill>
              </a:rPr>
              <a:t>核心问题:人如何面对时间、命运与死亡?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情感走向:立志、失意、超越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9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第四部 · 人生天地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人生天地 · 下组 · 时间、衰老、生死与精神自由(88—99)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2471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《短歌行》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曹操·东汉末年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《登高》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杜甫·唐代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《秋夕》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杜牧·晚唐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《锦瑟》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李商隐·晚唐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《浣溪沙·一曲新词酒一杯》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晏殊·北宋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《江城子·乙卯正月二十日夜记梦》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苏轼·北宋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12471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097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《虞美人·春花秋月何时了》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李煜·南唐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655064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627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《丑奴儿·书博山道中壁》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辛弃疾·南宋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2185416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21579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《青玉案·元夕》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辛弃疾·南宋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26883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《金陵驿》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文天祥·南宋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《竹石》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郑燮·清代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663440" y="377647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99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3749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《己亥杂诗·其二百二十》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龚自珍·清代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65760" y="4370832"/>
            <a:ext cx="841248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398264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2C55E"/>
                </a:solidFill>
              </a:rPr>
              <a:t>总括 100 · 赤壁赋(节选) · 苏轼 · 北宋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前面写立志、失意、衰老、相思与生死,最终落到如何理解有限的人生。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10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背诵小妙招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以第 7 首《静夜思》为例</a:t>
            </a:r>
            <a:endParaRPr lang="en-US" sz="1400" dirty="0"/>
          </a:p>
        </p:txBody>
      </p:sp>
      <p:pic>
        <p:nvPicPr>
          <p:cNvPr id="7" name="Image 0" descr="手绘月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"/>
            <a:ext cx="9144000" cy="41833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06240" y="1097280"/>
            <a:ext cx="4572000" cy="3886200"/>
          </a:xfrm>
          <a:prstGeom prst="roundRect">
            <a:avLst>
              <a:gd name="adj" fmla="val 3529"/>
            </a:avLst>
          </a:prstGeom>
          <a:solidFill>
            <a:srgbClr val="FFFFFF">
              <a:alpha val="9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89120" y="1188720"/>
            <a:ext cx="42062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1E3A8A"/>
                </a:solidFill>
              </a:rPr>
              <a:t>床前明月光,疑是地上霜。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1E3A8A"/>
                </a:solidFill>
              </a:rPr>
              <a:t>举头望明月,低头思故乡。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B7280"/>
                </a:solidFill>
              </a:rPr>
              <a:t>chuáng qián míng yuè guāng, yí shì dì shàng shuāng. jǔ tóu wàng míng yuè, dī tóu sī gù xiāng.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① 听:大声读 3 遍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② 画:在脑海里画出月亮和白霜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③ 遮:盖住一句,试着背出来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④ 说:背给爸爸妈妈听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11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100 天打卡表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背会一首,涂一格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18872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188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118872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1188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54480" y="118872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54480" y="1188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118872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20240" y="1188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118872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1188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118872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1760" y="1188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118872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17520" y="1188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118872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1188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118872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49040" y="1188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155448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15544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" y="155448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15544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88720" y="155448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88720" y="15544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54480" y="155448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554480" y="15544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20240" y="155448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920240" y="15544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0" y="155448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286000" y="15544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51760" y="155448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651760" y="15544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17520" y="155448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017520" y="15544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83280" y="155448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383280" y="15544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19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49040" y="155448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749040" y="15544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192024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7200" y="19202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22960" y="192024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2960" y="19202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88720" y="192024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188720" y="19202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554480" y="192024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554480" y="19202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24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920240" y="1920240"/>
            <a:ext cx="338328" cy="3383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920240" y="19202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286000" y="192024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286000" y="19202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651760" y="192024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651760" y="19202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27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017520" y="192024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017520" y="19202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28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83280" y="192024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383280" y="19202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749040" y="192024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749040" y="19202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228600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22960" y="228600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22960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188720" y="228600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188720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554480" y="228600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554480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34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920240" y="228600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920240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286000" y="228600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286000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36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651760" y="228600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651760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37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017520" y="228600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017520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38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383280" y="228600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383280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39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749040" y="228600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749040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57200" y="265176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57200" y="26517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22960" y="265176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22960" y="26517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42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188720" y="265176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188720" y="26517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43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554480" y="265176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554480" y="26517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44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1920240" y="265176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920240" y="26517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45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286000" y="265176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286000" y="26517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46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2651760" y="265176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2651760" y="26517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017520" y="265176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017520" y="26517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48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383280" y="265176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383280" y="26517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49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749040" y="2651760"/>
            <a:ext cx="338328" cy="3383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749040" y="26517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57200" y="301752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57200" y="30175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822960" y="301752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822960" y="30175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52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1188720" y="301752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1188720" y="30175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53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1554480" y="301752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554480" y="30175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54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1920240" y="301752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920240" y="30175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55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2286000" y="301752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2286000" y="30175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56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2651760" y="301752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2651760" y="30175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57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3017520" y="301752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3017520" y="30175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58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3383280" y="301752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3383280" y="30175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59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3749040" y="301752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3749040" y="30175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60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457200" y="338328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457200" y="33832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61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822960" y="338328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822960" y="33832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62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1188720" y="338328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1188720" y="33832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63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1554480" y="338328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1554480" y="33832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64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1920240" y="338328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1920240" y="33832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65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2286000" y="338328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2286000" y="33832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66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2651760" y="338328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2651760" y="33832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67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3017520" y="338328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3017520" y="33832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68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3383280" y="338328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3383280" y="33832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69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3749040" y="338328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3749040" y="33832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70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457200" y="374904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457200" y="37490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71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822960" y="374904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822960" y="37490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72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1188720" y="374904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1188720" y="37490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73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1554480" y="374904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1554480" y="37490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74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1920240" y="3749040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1920240" y="37490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75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2286000" y="374904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2286000" y="37490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76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2651760" y="374904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2651760" y="37490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77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3017520" y="374904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3017520" y="37490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78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3383280" y="374904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3383280" y="37490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79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3749040" y="374904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3749040" y="37490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80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457200" y="411480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457200" y="41148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81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822960" y="411480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822960" y="41148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82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1188720" y="411480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1188720" y="41148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83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1554480" y="411480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1554480" y="41148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84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1920240" y="411480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1920240" y="41148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85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2286000" y="411480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2286000" y="41148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86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2651760" y="411480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2651760" y="41148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87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3017520" y="411480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3017520" y="41148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88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3383280" y="411480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3383280" y="41148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89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3749040" y="411480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3749040" y="41148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90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457200" y="448056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457200" y="44805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91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822960" y="448056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822960" y="44805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92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1188720" y="448056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1188720" y="44805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93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1554480" y="448056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1554480" y="44805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94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1920240" y="448056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1920240" y="44805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95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2286000" y="448056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2286000" y="44805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96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2651760" y="448056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2651760" y="44805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97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3017520" y="448056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3017520" y="44805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98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3383280" y="448056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4" name="Text 202"/>
          <p:cNvSpPr txBox="1"/>
          <p:nvPr/>
        </p:nvSpPr>
        <p:spPr>
          <a:xfrm>
            <a:off x="3383280" y="44805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99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3749040" y="4480560"/>
            <a:ext cx="338328" cy="3383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3749040" y="44805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100</a:t>
            </a:r>
            <a:endParaRPr lang="en-US" sz="800" dirty="0"/>
          </a:p>
        </p:txBody>
      </p:sp>
      <p:sp>
        <p:nvSpPr>
          <p:cNvPr id="207" name="Text 205"/>
          <p:cNvSpPr txBox="1"/>
          <p:nvPr/>
        </p:nvSpPr>
        <p:spPr>
          <a:xfrm>
            <a:off x="4480560" y="118872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6A34A"/>
                </a:solidFill>
              </a:rPr>
              <a:t>怎么打卡?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每天 1 首新诗,再复习昨天的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背会了,就给这个数字涂上颜色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每满 25 首,庆祝一次(一部完成)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100 天后,你就有一本自己的诗集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每天复习前面的,记忆也像滚雪球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百首诗 · 背诵小册</dc:title>
  <dc:subject>PptxGenJS Presentation</dc:subject>
  <dc:creator>PptxGenJS</dc:creator>
  <cp:lastModifiedBy>PptxGenJS</cp:lastModifiedBy>
  <cp:revision>1</cp:revision>
  <dcterms:created xsi:type="dcterms:W3CDTF">2026-10-30T12:48:38Z</dcterms:created>
  <dcterms:modified xsi:type="dcterms:W3CDTF">2026-10-30T12:48:38Z</dcterms:modified>
</cp:coreProperties>
</file>